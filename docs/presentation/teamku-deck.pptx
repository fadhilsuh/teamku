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81"/>
  </p:normalViewPr>
  <p:slideViewPr>
    <p:cSldViewPr snapToGrid="0" snapToObjects="1">
      <p:cViewPr varScale="1">
        <p:scale>
          <a:sx n="116" d="100"/>
          <a:sy n="116" d="100"/>
        </p:scale>
        <p:origin x="32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997135" y="-914400"/>
            <a:ext cx="2926080" cy="2926080"/>
          </a:xfrm>
          <a:prstGeom prst="roundRect">
            <a:avLst>
              <a:gd name="adj" fmla="val 8000"/>
            </a:avLst>
          </a:prstGeom>
          <a:solidFill>
            <a:srgbClr val="7C5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637215" y="-320040"/>
            <a:ext cx="1828800" cy="1828800"/>
          </a:xfrm>
          <a:prstGeom prst="roundRect">
            <a:avLst>
              <a:gd name="adj" fmla="val 8000"/>
            </a:avLst>
          </a:prstGeom>
          <a:solidFill>
            <a:srgbClr val="12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-822960" y="5943600"/>
            <a:ext cx="1554480" cy="1554480"/>
          </a:xfrm>
          <a:prstGeom prst="roundRect">
            <a:avLst>
              <a:gd name="adj" fmla="val 8000"/>
            </a:avLst>
          </a:prstGeom>
          <a:solidFill>
            <a:srgbClr val="12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818120" y="1005840"/>
            <a:ext cx="3383280" cy="4754880"/>
          </a:xfrm>
          <a:prstGeom prst="roundRect">
            <a:avLst>
              <a:gd name="adj" fmla="val 8000"/>
            </a:avLst>
          </a:prstGeom>
          <a:solidFill>
            <a:srgbClr val="7C5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092440" y="1280160"/>
            <a:ext cx="2834640" cy="4206240"/>
          </a:xfrm>
          <a:prstGeom prst="roundRect">
            <a:avLst>
              <a:gd name="adj" fmla="val 8000"/>
            </a:avLst>
          </a:prstGeom>
          <a:solidFill>
            <a:srgbClr val="12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503920" y="1691640"/>
            <a:ext cx="566928" cy="566928"/>
          </a:xfrm>
          <a:prstGeom prst="roundRect">
            <a:avLst>
              <a:gd name="adj" fmla="val 8000"/>
            </a:avLst>
          </a:prstGeom>
          <a:solidFill>
            <a:srgbClr val="00D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181F37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2423160"/>
            <a:ext cx="2240280" cy="23774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F3F6FF"/>
                </a:solidFill>
                <a:latin typeface="Aptos"/>
              </a:rPr>
              <a:t>Satu platform.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F3F6FF"/>
                </a:solidFill>
                <a:latin typeface="Aptos"/>
              </a:rPr>
              <a:t>Semua urusan HR.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00D4C7"/>
                </a:solidFill>
                <a:latin typeface="Aptos"/>
              </a:rPr>
              <a:t>Lebih sedikit administrasi.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4754880"/>
            <a:ext cx="201168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A6B1CD"/>
                </a:solidFill>
                <a:latin typeface="Aptos"/>
              </a:rPr>
              <a:t>PEOPLE 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38912"/>
            <a:ext cx="10874959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00D4C7"/>
                </a:solidFill>
                <a:latin typeface="Aptos"/>
              </a:rPr>
              <a:t>PLATFORM HR INDONESIA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325880"/>
            <a:ext cx="6492240" cy="10972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5800" b="1">
                <a:solidFill>
                  <a:srgbClr val="F3F6FF"/>
                </a:solidFill>
                <a:latin typeface="Aptos"/>
              </a:rPr>
              <a:t>Teamku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514600"/>
            <a:ext cx="6583680" cy="1600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3100" b="1">
                <a:solidFill>
                  <a:srgbClr val="F3F6FF"/>
                </a:solidFill>
                <a:latin typeface="Aptos"/>
              </a:rPr>
              <a:t>Kerja HR lebih ringan.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3100" b="1">
                <a:solidFill>
                  <a:srgbClr val="00D4C7"/>
                </a:solidFill>
                <a:latin typeface="Aptos"/>
              </a:rPr>
              <a:t>Tim bergerak lebih cepat.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4343400"/>
            <a:ext cx="6309360" cy="8229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A6B1CD"/>
                </a:solidFill>
                <a:latin typeface="Aptos"/>
              </a:rPr>
              <a:t>Kehadiran, cuti, persetujuan, dan payroll bekerja dalam satu alur—agar HR bisa fokus membangun tim, bukan mengejar administrasi.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5440680"/>
            <a:ext cx="1165860" cy="384048"/>
          </a:xfrm>
          <a:prstGeom prst="roundRect">
            <a:avLst>
              <a:gd name="adj" fmla="val 8000"/>
            </a:avLst>
          </a:prstGeom>
          <a:solidFill>
            <a:srgbClr val="7C5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Hemat waktu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52244" y="5440680"/>
            <a:ext cx="1399032" cy="384048"/>
          </a:xfrm>
          <a:prstGeom prst="roundRect">
            <a:avLst>
              <a:gd name="adj" fmla="val 8000"/>
            </a:avLst>
          </a:prstGeom>
          <a:solidFill>
            <a:srgbClr val="00D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181F37"/>
                </a:solidFill>
                <a:latin typeface="Aptos"/>
              </a:rPr>
              <a:t>Data tepercaya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9292" y="5440680"/>
            <a:ext cx="1632204" cy="384048"/>
          </a:xfrm>
          <a:prstGeom prst="roundRect">
            <a:avLst>
              <a:gd name="adj" fmla="val 8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Tim lebih mandiri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46520"/>
            <a:ext cx="45720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A6B1CD"/>
                </a:solidFill>
                <a:latin typeface="Aptos"/>
              </a:rPr>
              <a:t>TEAMKU  ·  MOVON DIGITAL HOUSE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36047" y="6446520"/>
            <a:ext cx="109728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A6B1CD"/>
                </a:solidFill>
                <a:latin typeface="Aptos"/>
              </a:rPr>
              <a:t>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911535" y="-594360"/>
            <a:ext cx="1828800" cy="1828800"/>
          </a:xfrm>
          <a:prstGeom prst="roundRect">
            <a:avLst>
              <a:gd name="adj" fmla="val 8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438912"/>
            <a:ext cx="10874959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6B6B"/>
                </a:solidFill>
                <a:latin typeface="Aptos"/>
              </a:rPr>
              <a:t>PERUBAHAN YANG TERASA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41248"/>
            <a:ext cx="10874959" cy="9601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3100" b="1">
                <a:solidFill>
                  <a:srgbClr val="181F37"/>
                </a:solidFill>
                <a:latin typeface="Aptos"/>
              </a:rPr>
              <a:t>Dari administrasi yang tercecer menjadi satu alur yang terkendali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73352"/>
            <a:ext cx="10874959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5B657E"/>
                </a:solidFill>
                <a:latin typeface="Aptos"/>
              </a:rPr>
              <a:t>Teamku merapikan perjalanan kerja HR dari awal sampai akhir—tanpa berpindah-pindah chat, spreadsheet, dan dokumen.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423160"/>
            <a:ext cx="5277459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255867" y="2423160"/>
            <a:ext cx="5277459" cy="3429000"/>
          </a:xfrm>
          <a:prstGeom prst="roundRect">
            <a:avLst>
              <a:gd name="adj" fmla="val 8000"/>
            </a:avLst>
          </a:prstGeom>
          <a:solidFill>
            <a:srgbClr val="0A1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651760"/>
            <a:ext cx="4765395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6B6B"/>
                </a:solidFill>
                <a:latin typeface="Aptos"/>
              </a:rPr>
              <a:t>SEBELUM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1899" y="2651760"/>
            <a:ext cx="4765395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00D4C7"/>
                </a:solidFill>
                <a:latin typeface="Aptos"/>
              </a:rPr>
              <a:t>BERSAMA TEAMKU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18211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EFE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181F37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3209544"/>
            <a:ext cx="4271619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81F37"/>
                </a:solidFill>
                <a:latin typeface="Aptos"/>
              </a:rPr>
              <a:t>Absensi sulit diverifikasi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794760"/>
            <a:ext cx="384048" cy="384048"/>
          </a:xfrm>
          <a:prstGeom prst="roundRect">
            <a:avLst>
              <a:gd name="adj" fmla="val 8000"/>
            </a:avLst>
          </a:prstGeom>
          <a:solidFill>
            <a:srgbClr val="EFE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181F37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3822192"/>
            <a:ext cx="4271619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81F37"/>
                </a:solidFill>
                <a:latin typeface="Aptos"/>
              </a:rPr>
              <a:t>Cuti terselip di percakapan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407408"/>
            <a:ext cx="384048" cy="384048"/>
          </a:xfrm>
          <a:prstGeom prst="roundRect">
            <a:avLst>
              <a:gd name="adj" fmla="val 8000"/>
            </a:avLst>
          </a:prstGeom>
          <a:solidFill>
            <a:srgbClr val="EFE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181F37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08176" y="4434840"/>
            <a:ext cx="4271619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81F37"/>
                </a:solidFill>
                <a:latin typeface="Aptos"/>
              </a:rPr>
              <a:t>Payroll penuh pengecekan ulang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5020056"/>
            <a:ext cx="384048" cy="384048"/>
          </a:xfrm>
          <a:prstGeom prst="roundRect">
            <a:avLst>
              <a:gd name="adj" fmla="val 8000"/>
            </a:avLst>
          </a:prstGeom>
          <a:solidFill>
            <a:srgbClr val="EFE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181F37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08176" y="5047488"/>
            <a:ext cx="4271619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81F37"/>
                </a:solidFill>
                <a:latin typeface="Aptos"/>
              </a:rPr>
              <a:t>Data tersebar, keputusan terlambat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11899" y="318211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00D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181F37"/>
                </a:solidFill>
                <a:latin typeface="Aptos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05675" y="3209544"/>
            <a:ext cx="4271619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F3F6FF"/>
                </a:solidFill>
                <a:latin typeface="Aptos"/>
              </a:rPr>
              <a:t>Kehadiran dilengkapi bukti lokasi &amp; selfie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11899" y="3794760"/>
            <a:ext cx="384048" cy="384048"/>
          </a:xfrm>
          <a:prstGeom prst="roundRect">
            <a:avLst>
              <a:gd name="adj" fmla="val 8000"/>
            </a:avLst>
          </a:prstGeom>
          <a:solidFill>
            <a:srgbClr val="00D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181F37"/>
                </a:solidFill>
                <a:latin typeface="Aptos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05675" y="3822192"/>
            <a:ext cx="4271619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F3F6FF"/>
                </a:solidFill>
                <a:latin typeface="Aptos"/>
              </a:rPr>
              <a:t>Persetujuan masuk ke satu inbox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11899" y="4407408"/>
            <a:ext cx="384048" cy="384048"/>
          </a:xfrm>
          <a:prstGeom prst="roundRect">
            <a:avLst>
              <a:gd name="adj" fmla="val 8000"/>
            </a:avLst>
          </a:prstGeom>
          <a:solidFill>
            <a:srgbClr val="00D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181F37"/>
                </a:solidFill>
                <a:latin typeface="Apto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05675" y="4434840"/>
            <a:ext cx="4271619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F3F6FF"/>
                </a:solidFill>
                <a:latin typeface="Aptos"/>
              </a:rPr>
              <a:t>Payroll mengalir dari susun hingga publikasi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11899" y="5020056"/>
            <a:ext cx="384048" cy="384048"/>
          </a:xfrm>
          <a:prstGeom prst="roundRect">
            <a:avLst>
              <a:gd name="adj" fmla="val 8000"/>
            </a:avLst>
          </a:prstGeom>
          <a:solidFill>
            <a:srgbClr val="00D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181F37"/>
                </a:solidFill>
                <a:latin typeface="Apto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05675" y="5047488"/>
            <a:ext cx="4271619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F3F6FF"/>
                </a:solidFill>
                <a:latin typeface="Aptos"/>
              </a:rPr>
              <a:t>Dashboard memberi visibilitas real-time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46520"/>
            <a:ext cx="45720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57E"/>
                </a:solidFill>
                <a:latin typeface="Aptos"/>
              </a:rPr>
              <a:t>TEAMKU  ·  MOVON DIGITAL HOUSE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36047" y="6446520"/>
            <a:ext cx="109728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57E"/>
                </a:solidFill>
                <a:latin typeface="Aptos"/>
              </a:rP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997135" y="-914400"/>
            <a:ext cx="2926080" cy="2926080"/>
          </a:xfrm>
          <a:prstGeom prst="roundRect">
            <a:avLst>
              <a:gd name="adj" fmla="val 8000"/>
            </a:avLst>
          </a:prstGeom>
          <a:solidFill>
            <a:srgbClr val="00D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637215" y="-320040"/>
            <a:ext cx="1828800" cy="1828800"/>
          </a:xfrm>
          <a:prstGeom prst="roundRect">
            <a:avLst>
              <a:gd name="adj" fmla="val 8000"/>
            </a:avLst>
          </a:prstGeom>
          <a:solidFill>
            <a:srgbClr val="12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-822960" y="5943600"/>
            <a:ext cx="1554480" cy="1554480"/>
          </a:xfrm>
          <a:prstGeom prst="roundRect">
            <a:avLst>
              <a:gd name="adj" fmla="val 8000"/>
            </a:avLst>
          </a:prstGeom>
          <a:solidFill>
            <a:srgbClr val="12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438912"/>
            <a:ext cx="10874959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00D4C7"/>
                </a:solidFill>
                <a:latin typeface="Aptos"/>
              </a:rPr>
              <a:t>DAMPAK UNTUK BISNIS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841248"/>
            <a:ext cx="10874959" cy="9601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F3F6FF"/>
                </a:solidFill>
                <a:latin typeface="Aptos"/>
              </a:rPr>
              <a:t>Bukan sekadar digital. Cara kerja tim Anda ikut berubah.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664208"/>
            <a:ext cx="10874959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A6B1CD"/>
                </a:solidFill>
                <a:latin typeface="Aptos"/>
              </a:rPr>
              <a:t>Empat manfaat yang langsung terasa ketika seluruh proses HR bergerak dalam satu sistem.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423160"/>
            <a:ext cx="5190591" cy="1353312"/>
          </a:xfrm>
          <a:prstGeom prst="roundRect">
            <a:avLst>
              <a:gd name="adj" fmla="val 8000"/>
            </a:avLst>
          </a:prstGeom>
          <a:solidFill>
            <a:srgbClr val="121B3A"/>
          </a:solidFill>
          <a:ln w="12700">
            <a:solidFill>
              <a:srgbClr val="263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41248" y="258775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7C5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587752"/>
            <a:ext cx="4321911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3F6FF"/>
                </a:solidFill>
                <a:latin typeface="Aptos"/>
              </a:rPr>
              <a:t>Waktu kembali ke tim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136392"/>
            <a:ext cx="4824831" cy="51206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A6B1CD"/>
                </a:solidFill>
                <a:latin typeface="Aptos"/>
              </a:rPr>
              <a:t>Kurangi pekerjaan berulang agar HR punya ruang untuk mendampingi karyawan.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42735" y="2423160"/>
            <a:ext cx="5190591" cy="1353312"/>
          </a:xfrm>
          <a:prstGeom prst="roundRect">
            <a:avLst>
              <a:gd name="adj" fmla="val 8000"/>
            </a:avLst>
          </a:prstGeom>
          <a:solidFill>
            <a:srgbClr val="121B3A"/>
          </a:solidFill>
          <a:ln w="12700">
            <a:solidFill>
              <a:srgbClr val="263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525615" y="258775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00D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181F37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28535" y="2587752"/>
            <a:ext cx="4321911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3F6FF"/>
                </a:solidFill>
                <a:latin typeface="Aptos"/>
              </a:rPr>
              <a:t>Data lebih tepercaya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5615" y="3136392"/>
            <a:ext cx="4824831" cy="51206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A6B1CD"/>
                </a:solidFill>
                <a:latin typeface="Aptos"/>
              </a:rPr>
              <a:t>Kehadiran dan aktivitas penting dilengkapi jejak yang mudah ditelusuri.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023360"/>
            <a:ext cx="5190591" cy="1353312"/>
          </a:xfrm>
          <a:prstGeom prst="roundRect">
            <a:avLst>
              <a:gd name="adj" fmla="val 8000"/>
            </a:avLst>
          </a:prstGeom>
          <a:solidFill>
            <a:srgbClr val="121B3A"/>
          </a:solidFill>
          <a:ln w="12700">
            <a:solidFill>
              <a:srgbClr val="263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41248" y="418795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87952"/>
            <a:ext cx="4321911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3F6FF"/>
                </a:solidFill>
                <a:latin typeface="Aptos"/>
              </a:rPr>
              <a:t>Keputusan lebih cepat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4736592"/>
            <a:ext cx="4824831" cy="51206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A6B1CD"/>
                </a:solidFill>
                <a:latin typeface="Aptos"/>
              </a:rPr>
              <a:t>Manager melihat yang perlu diputuskan tanpa menunggu rekap manual.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42735" y="4023360"/>
            <a:ext cx="5190591" cy="1353312"/>
          </a:xfrm>
          <a:prstGeom prst="roundRect">
            <a:avLst>
              <a:gd name="adj" fmla="val 8000"/>
            </a:avLst>
          </a:prstGeom>
          <a:solidFill>
            <a:srgbClr val="121B3A"/>
          </a:solidFill>
          <a:ln w="12700">
            <a:solidFill>
              <a:srgbClr val="263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525615" y="418795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181F37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28535" y="4187952"/>
            <a:ext cx="4321911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3F6FF"/>
                </a:solidFill>
                <a:latin typeface="Aptos"/>
              </a:rPr>
              <a:t>Pengalaman lebih rapi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5615" y="4736592"/>
            <a:ext cx="4824831" cy="51206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A6B1CD"/>
                </a:solidFill>
                <a:latin typeface="Aptos"/>
              </a:rPr>
              <a:t>Karyawan mengurus kebutuhan HR melalui alur mandiri yang konsisten.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446520"/>
            <a:ext cx="45720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A6B1CD"/>
                </a:solidFill>
                <a:latin typeface="Aptos"/>
              </a:rPr>
              <a:t>TEAMKU  ·  MOVON DIGITAL HOUSE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36047" y="6446520"/>
            <a:ext cx="109728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A6B1CD"/>
                </a:solidFill>
                <a:latin typeface="Aptos"/>
              </a:rP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997135" y="-914400"/>
            <a:ext cx="2926080" cy="2926080"/>
          </a:xfrm>
          <a:prstGeom prst="roundRect">
            <a:avLst>
              <a:gd name="adj" fmla="val 8000"/>
            </a:avLst>
          </a:prstGeom>
          <a:solidFill>
            <a:srgbClr val="00D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637215" y="-320040"/>
            <a:ext cx="1828800" cy="1828800"/>
          </a:xfrm>
          <a:prstGeom prst="roundRect">
            <a:avLst>
              <a:gd name="adj" fmla="val 8000"/>
            </a:avLst>
          </a:prstGeom>
          <a:solidFill>
            <a:srgbClr val="12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-822960" y="5943600"/>
            <a:ext cx="1554480" cy="1554480"/>
          </a:xfrm>
          <a:prstGeom prst="roundRect">
            <a:avLst>
              <a:gd name="adj" fmla="val 8000"/>
            </a:avLst>
          </a:prstGeom>
          <a:solidFill>
            <a:srgbClr val="12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438912"/>
            <a:ext cx="10874959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00D4C7"/>
                </a:solidFill>
                <a:latin typeface="Aptos"/>
              </a:rPr>
              <a:t>KEHADIRAN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078992"/>
            <a:ext cx="5852160" cy="16916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300"/>
              </a:spcAft>
            </a:pPr>
            <a:r>
              <a:rPr sz="4000" b="1">
                <a:solidFill>
                  <a:srgbClr val="F3F6FF"/>
                </a:solidFill>
                <a:latin typeface="Aptos"/>
              </a:rPr>
              <a:t>Datang.</a:t>
            </a:r>
          </a:p>
          <a:p>
            <a:pPr algn="l">
              <a:lnSpc>
                <a:spcPct val="88000"/>
              </a:lnSpc>
              <a:spcBef>
                <a:spcPts val="0"/>
              </a:spcBef>
              <a:spcAft>
                <a:spcPts val="300"/>
              </a:spcAft>
            </a:pPr>
            <a:r>
              <a:rPr sz="4000" b="1">
                <a:solidFill>
                  <a:srgbClr val="00D4C7"/>
                </a:solidFill>
                <a:latin typeface="Aptos"/>
              </a:rPr>
              <a:t>Buktikan.</a:t>
            </a:r>
          </a:p>
          <a:p>
            <a:pPr algn="l">
              <a:lnSpc>
                <a:spcPct val="88000"/>
              </a:lnSpc>
              <a:spcBef>
                <a:spcPts val="0"/>
              </a:spcBef>
              <a:spcAft>
                <a:spcPts val="300"/>
              </a:spcAft>
            </a:pPr>
            <a:r>
              <a:rPr sz="4000" b="1">
                <a:solidFill>
                  <a:srgbClr val="F3F6FF"/>
                </a:solidFill>
                <a:latin typeface="Aptos"/>
              </a:rPr>
              <a:t>Mulai bekerja.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154680"/>
            <a:ext cx="5394960" cy="11430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A6B1CD"/>
                </a:solidFill>
                <a:latin typeface="Aptos"/>
              </a:rPr>
              <a:t>Presensi menjadi bagian dari ritme kerja—bukan sekadar tombol check-in. Setiap kehadiran disertai konteks lokasi, bukti visual, dan agenda hari itu.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4709160"/>
            <a:ext cx="5166360" cy="73152"/>
          </a:xfrm>
          <a:prstGeom prst="rect">
            <a:avLst/>
          </a:prstGeom>
          <a:solidFill>
            <a:srgbClr val="00D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4965192"/>
            <a:ext cx="5394960" cy="6858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A6B1CD"/>
                </a:solidFill>
                <a:latin typeface="Aptos"/>
              </a:rPr>
              <a:t>Benefit: mengurangi risiko titip absen dan memberi visibilitas awal atas fokus tim.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1051560"/>
            <a:ext cx="4343400" cy="4800600"/>
          </a:xfrm>
          <a:prstGeom prst="roundRect">
            <a:avLst>
              <a:gd name="adj" fmla="val 8000"/>
            </a:avLst>
          </a:prstGeom>
          <a:solidFill>
            <a:srgbClr val="121B3A"/>
          </a:solidFill>
          <a:ln w="12700">
            <a:solidFill>
              <a:srgbClr val="263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040880" y="1371600"/>
            <a:ext cx="365760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00D4C7"/>
                </a:solidFill>
                <a:latin typeface="Aptos"/>
              </a:rPr>
              <a:t>ALUR KEHADIRAN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1911095"/>
            <a:ext cx="438912" cy="438912"/>
          </a:xfrm>
          <a:prstGeom prst="roundRect">
            <a:avLst>
              <a:gd name="adj" fmla="val 8000"/>
            </a:avLst>
          </a:prstGeom>
          <a:solidFill>
            <a:srgbClr val="7C5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62672" y="1874519"/>
            <a:ext cx="3035808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3F6FF"/>
                </a:solidFill>
                <a:latin typeface="Aptos"/>
              </a:rPr>
              <a:t>Ambil selfie langsung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62672" y="2212847"/>
            <a:ext cx="3035808" cy="5303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A6B1CD"/>
                </a:solidFill>
                <a:latin typeface="Aptos"/>
              </a:rPr>
              <a:t>Bukti visual diambil saat check-in.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40880" y="2825496"/>
            <a:ext cx="438912" cy="438912"/>
          </a:xfrm>
          <a:prstGeom prst="roundRect">
            <a:avLst>
              <a:gd name="adj" fmla="val 8000"/>
            </a:avLst>
          </a:prstGeom>
          <a:solidFill>
            <a:srgbClr val="00D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181F37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62672" y="2788920"/>
            <a:ext cx="3035808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3F6FF"/>
                </a:solidFill>
                <a:latin typeface="Aptos"/>
              </a:rPr>
              <a:t>Verifikasi geofence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62672" y="3127248"/>
            <a:ext cx="3035808" cy="5303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A6B1CD"/>
                </a:solidFill>
                <a:latin typeface="Aptos"/>
              </a:rPr>
              <a:t>Lokasi diperiksa terhadap radius kantor.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40880" y="3739896"/>
            <a:ext cx="438912" cy="438912"/>
          </a:xfrm>
          <a:prstGeom prst="roundRect">
            <a:avLst>
              <a:gd name="adj" fmla="val 8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62672" y="3703320"/>
            <a:ext cx="3035808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3F6FF"/>
                </a:solidFill>
                <a:latin typeface="Aptos"/>
              </a:rPr>
              <a:t>Tetapkan agenda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62672" y="4041648"/>
            <a:ext cx="3035808" cy="5303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A6B1CD"/>
                </a:solidFill>
                <a:latin typeface="Aptos"/>
              </a:rPr>
              <a:t>Karyawan menuliskan 1–5 prioritas.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40880" y="4654296"/>
            <a:ext cx="438912" cy="438912"/>
          </a:xfrm>
          <a:prstGeom prst="roundRect">
            <a:avLst>
              <a:gd name="adj" fmla="val 8000"/>
            </a:avLst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181F37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62672" y="4617720"/>
            <a:ext cx="3035808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3F6FF"/>
                </a:solidFill>
                <a:latin typeface="Aptos"/>
              </a:rPr>
              <a:t>Tutup dengan ringkasan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62672" y="4956048"/>
            <a:ext cx="3035808" cy="5303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A6B1CD"/>
                </a:solidFill>
                <a:latin typeface="Aptos"/>
              </a:rPr>
              <a:t>Check-out mencatat hasil kerja hari itu.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446520"/>
            <a:ext cx="45720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A6B1CD"/>
                </a:solidFill>
                <a:latin typeface="Aptos"/>
              </a:rPr>
              <a:t>TEAMKU  ·  MOVON DIGITAL HOUSE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36047" y="6446520"/>
            <a:ext cx="109728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A6B1CD"/>
                </a:solidFill>
                <a:latin typeface="Aptos"/>
              </a:rP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5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911535" y="-594360"/>
            <a:ext cx="1828800" cy="1828800"/>
          </a:xfrm>
          <a:prstGeom prst="roundRect">
            <a:avLst>
              <a:gd name="adj" fmla="val 8000"/>
            </a:avLst>
          </a:prstGeom>
          <a:solidFill>
            <a:srgbClr val="7C5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438912"/>
            <a:ext cx="10874959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7C5CFC"/>
                </a:solidFill>
                <a:latin typeface="Aptos"/>
              </a:rPr>
              <a:t>CUTI &amp; PERSETUJUAN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41248"/>
            <a:ext cx="10874959" cy="9601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181F37"/>
                </a:solidFill>
                <a:latin typeface="Aptos"/>
              </a:rPr>
              <a:t>Cuti tanpa mengejar chat. Keputusan tanpa menunggu rekap.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64208"/>
            <a:ext cx="10874959" cy="5486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5B657E"/>
                </a:solidFill>
                <a:latin typeface="Aptos"/>
              </a:rPr>
              <a:t>Satu alur yang jelas bagi karyawan, manager, dan HR—dari pengajuan sampai notifikasi keputusan.</a:t>
            </a:r>
          </a:p>
        </p:txBody>
      </p:sp>
      <p:sp>
        <p:nvSpPr>
          <p:cNvPr id="8" name="Rectangle 7"/>
          <p:cNvSpPr/>
          <p:nvPr/>
        </p:nvSpPr>
        <p:spPr>
          <a:xfrm>
            <a:off x="886968" y="3191256"/>
            <a:ext cx="10417759" cy="64008"/>
          </a:xfrm>
          <a:prstGeom prst="rect">
            <a:avLst/>
          </a:prstGeom>
          <a:solidFill>
            <a:srgbClr val="DA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706841" y="2880360"/>
            <a:ext cx="621792" cy="621792"/>
          </a:xfrm>
          <a:prstGeom prst="roundRect">
            <a:avLst>
              <a:gd name="adj" fmla="val 8000"/>
            </a:avLst>
          </a:prstGeom>
          <a:solidFill>
            <a:srgbClr val="7C5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675887"/>
            <a:ext cx="2718739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81F37"/>
                </a:solidFill>
                <a:latin typeface="Aptos"/>
              </a:rPr>
              <a:t>Ajukan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4096512"/>
            <a:ext cx="2499283" cy="5486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57E"/>
                </a:solidFill>
                <a:latin typeface="Aptos"/>
              </a:rPr>
              <a:t>Pilih tanggal &amp; alasan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25581" y="2880360"/>
            <a:ext cx="621792" cy="621792"/>
          </a:xfrm>
          <a:prstGeom prst="roundRect">
            <a:avLst>
              <a:gd name="adj" fmla="val 8000"/>
            </a:avLst>
          </a:prstGeom>
          <a:solidFill>
            <a:srgbClr val="00D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181F37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77107" y="3675887"/>
            <a:ext cx="2718739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81F37"/>
                </a:solidFill>
                <a:latin typeface="Aptos"/>
              </a:rPr>
              <a:t>Hitung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6835" y="4096512"/>
            <a:ext cx="2499283" cy="5486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57E"/>
                </a:solidFill>
                <a:latin typeface="Aptos"/>
              </a:rPr>
              <a:t>Hari kerja &amp; saldo otomatis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44321" y="2880360"/>
            <a:ext cx="621792" cy="621792"/>
          </a:xfrm>
          <a:prstGeom prst="roundRect">
            <a:avLst>
              <a:gd name="adj" fmla="val 8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5847" y="3675887"/>
            <a:ext cx="2718739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81F37"/>
                </a:solidFill>
                <a:latin typeface="Aptos"/>
              </a:rPr>
              <a:t>Putuskan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05575" y="4096512"/>
            <a:ext cx="2499283" cy="5486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57E"/>
                </a:solidFill>
                <a:latin typeface="Aptos"/>
              </a:rPr>
              <a:t>Approve/reject + catatan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63061" y="2880360"/>
            <a:ext cx="621792" cy="621792"/>
          </a:xfrm>
          <a:prstGeom prst="roundRect">
            <a:avLst>
              <a:gd name="adj" fmla="val 8000"/>
            </a:avLst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181F37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14587" y="3675887"/>
            <a:ext cx="2718739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81F37"/>
                </a:solidFill>
                <a:latin typeface="Aptos"/>
              </a:rPr>
              <a:t>Ketahui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24315" y="4096512"/>
            <a:ext cx="2499283" cy="5486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57E"/>
                </a:solidFill>
                <a:latin typeface="Aptos"/>
              </a:rPr>
              <a:t>Notifikasi diterima seketika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983480"/>
            <a:ext cx="10874959" cy="822960"/>
          </a:xfrm>
          <a:prstGeom prst="roundRect">
            <a:avLst>
              <a:gd name="adj" fmla="val 8000"/>
            </a:avLst>
          </a:prstGeom>
          <a:solidFill>
            <a:srgbClr val="0A1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2688" y="5175504"/>
            <a:ext cx="777240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0D4C7"/>
                </a:solidFill>
                <a:latin typeface="Aptos"/>
              </a:rPr>
              <a:t>Hasilnya:</a:t>
            </a:r>
            <a:r>
              <a:rPr sz="1200" b="1">
                <a:solidFill>
                  <a:srgbClr val="F3F6FF"/>
                </a:solidFill>
                <a:latin typeface="Aptos"/>
              </a:rPr>
              <a:t>  status transparan, saldo selalu jelas, dan approval tidak lagi tercecer.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446520"/>
            <a:ext cx="45720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57E"/>
                </a:solidFill>
                <a:latin typeface="Aptos"/>
              </a:rPr>
              <a:t>TEAMKU  ·  MOVON DIGITAL HOUSE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36047" y="6446520"/>
            <a:ext cx="109728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57E"/>
                </a:solidFill>
                <a:latin typeface="Aptos"/>
              </a:rP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911535" y="-594360"/>
            <a:ext cx="1828800" cy="1828800"/>
          </a:xfrm>
          <a:prstGeom prst="roundRect">
            <a:avLst>
              <a:gd name="adj" fmla="val 8000"/>
            </a:avLst>
          </a:prstGeom>
          <a:solidFill>
            <a:srgbClr val="00D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438912"/>
            <a:ext cx="10874959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00D4C7"/>
                </a:solidFill>
                <a:latin typeface="Aptos"/>
              </a:rPr>
              <a:t>PENGALAMAN KARYAWAN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41248"/>
            <a:ext cx="10874959" cy="9601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181F37"/>
                </a:solidFill>
                <a:latin typeface="Aptos"/>
              </a:rPr>
              <a:t>HR tanpa antrean: semua yang dibutuhkan ada di tangan karyawan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64208"/>
            <a:ext cx="10874959" cy="5486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5B657E"/>
                </a:solidFill>
                <a:latin typeface="Aptos"/>
              </a:rPr>
              <a:t>Pengalaman mandiri yang sederhana mengurangi pertanyaan berulang—dan membuat layanan HR terasa cepat.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2377440"/>
            <a:ext cx="2743200" cy="3429000"/>
          </a:xfrm>
          <a:prstGeom prst="roundRect">
            <a:avLst>
              <a:gd name="adj" fmla="val 8000"/>
            </a:avLst>
          </a:prstGeom>
          <a:solidFill>
            <a:srgbClr val="0A1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170432" y="2578608"/>
            <a:ext cx="2414016" cy="2999232"/>
          </a:xfrm>
          <a:prstGeom prst="roundRect">
            <a:avLst>
              <a:gd name="adj" fmla="val 8000"/>
            </a:avLst>
          </a:prstGeom>
          <a:solidFill>
            <a:srgbClr val="12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89888" y="2834640"/>
            <a:ext cx="196596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F3F6FF"/>
                </a:solidFill>
                <a:latin typeface="Aptos"/>
              </a:rPr>
              <a:t>Halo, Tim 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89888" y="3456432"/>
            <a:ext cx="1965960" cy="438912"/>
          </a:xfrm>
          <a:prstGeom prst="roundRect">
            <a:avLst>
              <a:gd name="adj" fmla="val 8000"/>
            </a:avLst>
          </a:prstGeom>
          <a:solidFill>
            <a:srgbClr val="00D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481328" y="3538728"/>
            <a:ext cx="178308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81F37"/>
                </a:solidFill>
                <a:latin typeface="Aptos"/>
              </a:rPr>
              <a:t>Check-in hari ini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89888" y="4050791"/>
            <a:ext cx="1965960" cy="438912"/>
          </a:xfrm>
          <a:prstGeom prst="roundRect">
            <a:avLst>
              <a:gd name="adj" fmla="val 8000"/>
            </a:avLst>
          </a:prstGeom>
          <a:solidFill>
            <a:srgbClr val="7C5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481328" y="4133087"/>
            <a:ext cx="178308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Ajukan cuti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89888" y="4645152"/>
            <a:ext cx="1965960" cy="438912"/>
          </a:xfrm>
          <a:prstGeom prst="roundRect">
            <a:avLst>
              <a:gd name="adj" fmla="val 8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481328" y="4727448"/>
            <a:ext cx="178308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Lihat slip gaji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17720" y="2331720"/>
            <a:ext cx="438912" cy="438912"/>
          </a:xfrm>
          <a:prstGeom prst="roundRect">
            <a:avLst>
              <a:gd name="adj" fmla="val 8000"/>
            </a:avLst>
          </a:prstGeom>
          <a:solidFill>
            <a:srgbClr val="00D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181F37"/>
                </a:solidFill>
                <a:latin typeface="Aptos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9512" y="2331720"/>
            <a:ext cx="566928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1F37"/>
                </a:solidFill>
                <a:latin typeface="Aptos"/>
              </a:rPr>
              <a:t>Kehadiran hari ini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9512" y="2679192"/>
            <a:ext cx="566928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57E"/>
                </a:solidFill>
                <a:latin typeface="Aptos"/>
              </a:rPr>
              <a:t>Check-in, agenda, dan status check-out terlihat jelas.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17720" y="3200400"/>
            <a:ext cx="438912" cy="438912"/>
          </a:xfrm>
          <a:prstGeom prst="roundRect">
            <a:avLst>
              <a:gd name="adj" fmla="val 8000"/>
            </a:avLst>
          </a:prstGeom>
          <a:solidFill>
            <a:srgbClr val="7C5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9512" y="3200400"/>
            <a:ext cx="566928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1F37"/>
                </a:solidFill>
                <a:latin typeface="Aptos"/>
              </a:rPr>
              <a:t>Saldo &amp; status cuti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9512" y="3547872"/>
            <a:ext cx="566928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57E"/>
                </a:solidFill>
                <a:latin typeface="Aptos"/>
              </a:rPr>
              <a:t>Tidak perlu bertanya ke HR untuk mengetahui sisa hak cuti.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17720" y="4069079"/>
            <a:ext cx="438912" cy="438912"/>
          </a:xfrm>
          <a:prstGeom prst="roundRect">
            <a:avLst>
              <a:gd name="adj" fmla="val 8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9512" y="4069079"/>
            <a:ext cx="566928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1F37"/>
                </a:solidFill>
                <a:latin typeface="Aptos"/>
              </a:rPr>
              <a:t>Slip gaji pribadi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9512" y="4416551"/>
            <a:ext cx="566928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57E"/>
                </a:solidFill>
                <a:latin typeface="Aptos"/>
              </a:rPr>
              <a:t>Dokumen tersedia aman begitu payroll dipublikasikan.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17720" y="4937759"/>
            <a:ext cx="438912" cy="438912"/>
          </a:xfrm>
          <a:prstGeom prst="roundRect">
            <a:avLst>
              <a:gd name="adj" fmla="val 8000"/>
            </a:avLst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181F37"/>
                </a:solidFill>
                <a:latin typeface="Apto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9512" y="4937759"/>
            <a:ext cx="566928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1F37"/>
                </a:solidFill>
                <a:latin typeface="Aptos"/>
              </a:rPr>
              <a:t>Notifikasi penting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39512" y="5285231"/>
            <a:ext cx="566928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57E"/>
                </a:solidFill>
                <a:latin typeface="Aptos"/>
              </a:rPr>
              <a:t>Keputusan dan pembaruan masuk ke satu inbox.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446520"/>
            <a:ext cx="45720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57E"/>
                </a:solidFill>
                <a:latin typeface="Aptos"/>
              </a:rPr>
              <a:t>TEAMKU  ·  MOVON DIGITAL HOUSE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36047" y="6446520"/>
            <a:ext cx="109728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57E"/>
                </a:solidFill>
                <a:latin typeface="Aptos"/>
              </a:rPr>
              <a:t>07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997135" y="-914400"/>
            <a:ext cx="2926080" cy="2926080"/>
          </a:xfrm>
          <a:prstGeom prst="roundRect">
            <a:avLst>
              <a:gd name="adj" fmla="val 8000"/>
            </a:avLst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637215" y="-320040"/>
            <a:ext cx="1828800" cy="1828800"/>
          </a:xfrm>
          <a:prstGeom prst="roundRect">
            <a:avLst>
              <a:gd name="adj" fmla="val 8000"/>
            </a:avLst>
          </a:prstGeom>
          <a:solidFill>
            <a:srgbClr val="12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-822960" y="5943600"/>
            <a:ext cx="1554480" cy="1554480"/>
          </a:xfrm>
          <a:prstGeom prst="roundRect">
            <a:avLst>
              <a:gd name="adj" fmla="val 8000"/>
            </a:avLst>
          </a:prstGeom>
          <a:solidFill>
            <a:srgbClr val="12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438912"/>
            <a:ext cx="10874959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B84D"/>
                </a:solidFill>
                <a:latin typeface="Aptos"/>
              </a:rPr>
              <a:t>VISIBILITAS UNTUK MANAGER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841248"/>
            <a:ext cx="10874959" cy="9601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F3F6FF"/>
                </a:solidFill>
                <a:latin typeface="Aptos"/>
              </a:rPr>
              <a:t>Dari data harian menjadi keputusan yang lebih cepat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664208"/>
            <a:ext cx="10874959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A6B1CD"/>
                </a:solidFill>
                <a:latin typeface="Aptos"/>
              </a:rPr>
              <a:t>Satu layar untuk melihat apa yang terjadi hari ini—tanpa menunggu spreadsheet selesai direkap.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423160"/>
            <a:ext cx="2514600" cy="1234440"/>
          </a:xfrm>
          <a:prstGeom prst="roundRect">
            <a:avLst>
              <a:gd name="adj" fmla="val 8000"/>
            </a:avLst>
          </a:prstGeom>
          <a:solidFill>
            <a:srgbClr val="121B3A"/>
          </a:solidFill>
          <a:ln w="12700">
            <a:solidFill>
              <a:srgbClr val="263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" y="2423160"/>
            <a:ext cx="73152" cy="1234440"/>
          </a:xfrm>
          <a:prstGeom prst="rect">
            <a:avLst/>
          </a:prstGeom>
          <a:solidFill>
            <a:srgbClr val="00D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9536" y="2569464"/>
            <a:ext cx="21945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>
                <a:solidFill>
                  <a:srgbClr val="00D4C7"/>
                </a:solidFill>
                <a:latin typeface="Aptos"/>
              </a:rPr>
              <a:t>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3136392"/>
            <a:ext cx="219456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A6B1CD"/>
                </a:solidFill>
                <a:latin typeface="Aptos"/>
              </a:rPr>
              <a:t>Total anggota tim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2423160"/>
            <a:ext cx="2514600" cy="1234440"/>
          </a:xfrm>
          <a:prstGeom prst="roundRect">
            <a:avLst>
              <a:gd name="adj" fmla="val 8000"/>
            </a:avLst>
          </a:prstGeom>
          <a:solidFill>
            <a:srgbClr val="121B3A"/>
          </a:solidFill>
          <a:ln w="12700">
            <a:solidFill>
              <a:srgbClr val="263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83280" y="2423160"/>
            <a:ext cx="73152" cy="123444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84448" y="2569464"/>
            <a:ext cx="21945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>
                <a:solidFill>
                  <a:srgbClr val="A3E635"/>
                </a:solidFill>
                <a:latin typeface="Aptos"/>
              </a:rPr>
              <a:t>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4448" y="3136392"/>
            <a:ext cx="219456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A6B1CD"/>
                </a:solidFill>
                <a:latin typeface="Aptos"/>
              </a:rPr>
              <a:t>Hadir hari ini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08192" y="2423160"/>
            <a:ext cx="2514600" cy="1234440"/>
          </a:xfrm>
          <a:prstGeom prst="roundRect">
            <a:avLst>
              <a:gd name="adj" fmla="val 8000"/>
            </a:avLst>
          </a:prstGeom>
          <a:solidFill>
            <a:srgbClr val="121B3A"/>
          </a:solidFill>
          <a:ln w="12700">
            <a:solidFill>
              <a:srgbClr val="263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08192" y="2423160"/>
            <a:ext cx="73152" cy="123444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09360" y="2569464"/>
            <a:ext cx="21945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>
                <a:solidFill>
                  <a:srgbClr val="FF6B6B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136392"/>
            <a:ext cx="219456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A6B1CD"/>
                </a:solidFill>
                <a:latin typeface="Aptos"/>
              </a:rPr>
              <a:t>Menunggu persetujuan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33104" y="2423160"/>
            <a:ext cx="2514600" cy="1234440"/>
          </a:xfrm>
          <a:prstGeom prst="roundRect">
            <a:avLst>
              <a:gd name="adj" fmla="val 8000"/>
            </a:avLst>
          </a:prstGeom>
          <a:solidFill>
            <a:srgbClr val="121B3A"/>
          </a:solidFill>
          <a:ln w="12700">
            <a:solidFill>
              <a:srgbClr val="263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833104" y="2423160"/>
            <a:ext cx="73152" cy="1234440"/>
          </a:xfrm>
          <a:prstGeom prst="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034272" y="2569464"/>
            <a:ext cx="21945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>
                <a:solidFill>
                  <a:srgbClr val="FFB84D"/>
                </a:solidFill>
                <a:latin typeface="Aptos"/>
              </a:rPr>
              <a:t>83%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34272" y="3136392"/>
            <a:ext cx="219456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A6B1CD"/>
                </a:solidFill>
                <a:latin typeface="Aptos"/>
              </a:rPr>
              <a:t>Agenda telah disusun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977639"/>
            <a:ext cx="10874959" cy="1508760"/>
          </a:xfrm>
          <a:prstGeom prst="roundRect">
            <a:avLst>
              <a:gd name="adj" fmla="val 8000"/>
            </a:avLst>
          </a:prstGeom>
          <a:solidFill>
            <a:srgbClr val="121B3A"/>
          </a:solidFill>
          <a:ln w="12700">
            <a:solidFill>
              <a:srgbClr val="263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4224528"/>
            <a:ext cx="201168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FFB84D"/>
                </a:solidFill>
                <a:latin typeface="Aptos"/>
              </a:rPr>
              <a:t>YANG LANGSUNG TERLIHAT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2688" y="4736592"/>
            <a:ext cx="1632204" cy="384048"/>
          </a:xfrm>
          <a:prstGeom prst="roundRect">
            <a:avLst>
              <a:gd name="adj" fmla="val 8000"/>
            </a:avLst>
          </a:prstGeom>
          <a:solidFill>
            <a:srgbClr val="00D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181F37"/>
                </a:solidFill>
                <a:latin typeface="Aptos"/>
              </a:rPr>
              <a:t>Hadir &amp; terlambat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20340" y="4736592"/>
            <a:ext cx="1632204" cy="384048"/>
          </a:xfrm>
          <a:prstGeom prst="roundRect">
            <a:avLst>
              <a:gd name="adj" fmla="val 8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Approval tertunda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07992" y="4736592"/>
            <a:ext cx="1399032" cy="384048"/>
          </a:xfrm>
          <a:prstGeom prst="roundRect">
            <a:avLst>
              <a:gd name="adj" fmla="val 8000"/>
            </a:avLst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181F37"/>
                </a:solidFill>
                <a:latin typeface="Aptos"/>
              </a:rPr>
              <a:t>Progres agenda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62472" y="4736592"/>
            <a:ext cx="1088136" cy="384048"/>
          </a:xfrm>
          <a:prstGeom prst="roundRect">
            <a:avLst>
              <a:gd name="adj" fmla="val 8000"/>
            </a:avLst>
          </a:prstGeom>
          <a:solidFill>
            <a:srgbClr val="7C5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Cuti aktif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446520"/>
            <a:ext cx="45720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A6B1CD"/>
                </a:solidFill>
                <a:latin typeface="Aptos"/>
              </a:rPr>
              <a:t>TEAMKU  ·  MOVON DIGITAL HOUSE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36047" y="6446520"/>
            <a:ext cx="109728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A6B1CD"/>
                </a:solidFill>
                <a:latin typeface="Aptos"/>
              </a:rPr>
              <a:t>08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5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911535" y="-594360"/>
            <a:ext cx="1828800" cy="1828800"/>
          </a:xfrm>
          <a:prstGeom prst="roundRect">
            <a:avLst>
              <a:gd name="adj" fmla="val 8000"/>
            </a:avLst>
          </a:prstGeom>
          <a:solidFill>
            <a:srgbClr val="7C5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438912"/>
            <a:ext cx="10874959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7C5CFC"/>
                </a:solidFill>
                <a:latin typeface="Aptos"/>
              </a:rPr>
              <a:t>SATU PLATFORM, TIGA PENGALAMAN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41248"/>
            <a:ext cx="10874959" cy="9601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3100" b="1">
                <a:solidFill>
                  <a:srgbClr val="181F37"/>
                </a:solidFill>
                <a:latin typeface="Aptos"/>
              </a:rPr>
              <a:t>Setiap peran melihat yang dibutuhkan—tidak lebih, tidak kurang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64208"/>
            <a:ext cx="10874959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5B657E"/>
                </a:solidFill>
                <a:latin typeface="Aptos"/>
              </a:rPr>
              <a:t>Akses yang tepat menjaga privasi sekaligus membuat setiap orang tetap produktif.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395728"/>
            <a:ext cx="3472586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86968" y="2651760"/>
            <a:ext cx="530352" cy="530352"/>
          </a:xfrm>
          <a:prstGeom prst="roundRect">
            <a:avLst>
              <a:gd name="adj" fmla="val 8000"/>
            </a:avLst>
          </a:prstGeom>
          <a:solidFill>
            <a:srgbClr val="00D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181F37"/>
                </a:solidFill>
                <a:latin typeface="Aptos"/>
              </a:rPr>
              <a:t>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355848"/>
            <a:ext cx="3015386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1F37"/>
                </a:solidFill>
                <a:latin typeface="Aptos"/>
              </a:rPr>
              <a:t>KARYAWAN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767328"/>
            <a:ext cx="3015386" cy="5303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57E"/>
                </a:solidFill>
                <a:latin typeface="Aptos"/>
              </a:rPr>
              <a:t>Presensi · agenda · cuti · slip gaji · notifikasi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9554" y="2395728"/>
            <a:ext cx="3472586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588154" y="2651760"/>
            <a:ext cx="530352" cy="530352"/>
          </a:xfrm>
          <a:prstGeom prst="roundRect">
            <a:avLst>
              <a:gd name="adj" fmla="val 8000"/>
            </a:avLst>
          </a:prstGeom>
          <a:solidFill>
            <a:srgbClr val="7C5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8154" y="3355848"/>
            <a:ext cx="3015386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1F37"/>
                </a:solidFill>
                <a:latin typeface="Aptos"/>
              </a:rPr>
              <a:t>MANAGER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8154" y="3767328"/>
            <a:ext cx="3015386" cy="5303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57E"/>
                </a:solidFill>
                <a:latin typeface="Aptos"/>
              </a:rPr>
              <a:t>Dashboard tim · direktori · persetujuan departemen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0740" y="2395728"/>
            <a:ext cx="3472586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289340" y="2651760"/>
            <a:ext cx="530352" cy="530352"/>
          </a:xfrm>
          <a:prstGeom prst="roundRect">
            <a:avLst>
              <a:gd name="adj" fmla="val 8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9340" y="3355848"/>
            <a:ext cx="3015386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1F37"/>
                </a:solidFill>
                <a:latin typeface="Aptos"/>
              </a:rPr>
              <a:t>HR ADMIN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9340" y="3767328"/>
            <a:ext cx="3015386" cy="5303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57E"/>
                </a:solidFill>
                <a:latin typeface="Aptos"/>
              </a:rPr>
              <a:t>Data karyawan · payroll · pengaturan · audit log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910328"/>
            <a:ext cx="10874959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C5CFC"/>
                </a:solidFill>
                <a:latin typeface="Aptos"/>
              </a:rPr>
              <a:t>9 MODUL YANG BEKERJA BERSAMA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5394960"/>
            <a:ext cx="854964" cy="384048"/>
          </a:xfrm>
          <a:prstGeom prst="roundRect">
            <a:avLst>
              <a:gd name="adj" fmla="val 8000"/>
            </a:avLst>
          </a:prstGeom>
          <a:solidFill>
            <a:srgbClr val="7C5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Beranda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604772" y="5394960"/>
            <a:ext cx="932688" cy="384048"/>
          </a:xfrm>
          <a:prstGeom prst="roundRect">
            <a:avLst>
              <a:gd name="adj" fmla="val 8000"/>
            </a:avLst>
          </a:prstGeom>
          <a:solidFill>
            <a:srgbClr val="00D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181F37"/>
                </a:solidFill>
                <a:latin typeface="Aptos"/>
              </a:rPr>
              <a:t>Karyawan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28900" y="5394960"/>
            <a:ext cx="932688" cy="384048"/>
          </a:xfrm>
          <a:prstGeom prst="roundRect">
            <a:avLst>
              <a:gd name="adj" fmla="val 8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Presensi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3028" y="5394960"/>
            <a:ext cx="621792" cy="384048"/>
          </a:xfrm>
          <a:prstGeom prst="roundRect">
            <a:avLst>
              <a:gd name="adj" fmla="val 8000"/>
            </a:avLst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181F37"/>
                </a:solidFill>
                <a:latin typeface="Aptos"/>
              </a:rPr>
              <a:t>Cuti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66260" y="5394960"/>
            <a:ext cx="932688" cy="384048"/>
          </a:xfrm>
          <a:prstGeom prst="roundRect">
            <a:avLst>
              <a:gd name="adj" fmla="val 8000"/>
            </a:avLst>
          </a:prstGeom>
          <a:solidFill>
            <a:srgbClr val="7C5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Approval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90388" y="5394960"/>
            <a:ext cx="854964" cy="384048"/>
          </a:xfrm>
          <a:prstGeom prst="roundRect">
            <a:avLst>
              <a:gd name="adj" fmla="val 8000"/>
            </a:avLst>
          </a:prstGeom>
          <a:solidFill>
            <a:srgbClr val="00D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181F37"/>
                </a:solidFill>
                <a:latin typeface="Aptos"/>
              </a:rPr>
              <a:t>Payroll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36792" y="5394960"/>
            <a:ext cx="621792" cy="384048"/>
          </a:xfrm>
          <a:prstGeom prst="roundRect">
            <a:avLst>
              <a:gd name="adj" fmla="val 8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Slip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050024" y="5394960"/>
            <a:ext cx="1088136" cy="384048"/>
          </a:xfrm>
          <a:prstGeom prst="roundRect">
            <a:avLst>
              <a:gd name="adj" fmla="val 8000"/>
            </a:avLst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181F37"/>
                </a:solidFill>
                <a:latin typeface="Aptos"/>
              </a:rPr>
              <a:t>Notifikasi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5394960"/>
            <a:ext cx="1088136" cy="384048"/>
          </a:xfrm>
          <a:prstGeom prst="roundRect">
            <a:avLst>
              <a:gd name="adj" fmla="val 8000"/>
            </a:avLst>
          </a:prstGeom>
          <a:solidFill>
            <a:srgbClr val="7C5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Pengaturan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446520"/>
            <a:ext cx="45720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57E"/>
                </a:solidFill>
                <a:latin typeface="Aptos"/>
              </a:rPr>
              <a:t>TEAMKU  ·  MOVON DIGITAL HOUSE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36047" y="6446520"/>
            <a:ext cx="109728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5B657E"/>
                </a:solidFill>
                <a:latin typeface="Aptos"/>
              </a:rPr>
              <a:t>09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997135" y="-914400"/>
            <a:ext cx="2926080" cy="2926080"/>
          </a:xfrm>
          <a:prstGeom prst="roundRect">
            <a:avLst>
              <a:gd name="adj" fmla="val 8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637215" y="-320040"/>
            <a:ext cx="1828800" cy="1828800"/>
          </a:xfrm>
          <a:prstGeom prst="roundRect">
            <a:avLst>
              <a:gd name="adj" fmla="val 8000"/>
            </a:avLst>
          </a:prstGeom>
          <a:solidFill>
            <a:srgbClr val="12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-822960" y="5943600"/>
            <a:ext cx="1554480" cy="1554480"/>
          </a:xfrm>
          <a:prstGeom prst="roundRect">
            <a:avLst>
              <a:gd name="adj" fmla="val 8000"/>
            </a:avLst>
          </a:prstGeom>
          <a:solidFill>
            <a:srgbClr val="12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818120" y="777240"/>
            <a:ext cx="3291840" cy="5349240"/>
          </a:xfrm>
          <a:prstGeom prst="roundRect">
            <a:avLst>
              <a:gd name="adj" fmla="val 8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138160" y="1097280"/>
            <a:ext cx="2651760" cy="4709160"/>
          </a:xfrm>
          <a:prstGeom prst="roundRect">
            <a:avLst>
              <a:gd name="adj" fmla="val 8000"/>
            </a:avLst>
          </a:prstGeom>
          <a:solidFill>
            <a:srgbClr val="12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58200" y="1600200"/>
            <a:ext cx="205740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6B6B"/>
                </a:solidFill>
                <a:latin typeface="Aptos"/>
              </a:rPr>
              <a:t>TEAMKU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2148840"/>
            <a:ext cx="2057400" cy="21945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F3F6FF"/>
                </a:solidFill>
                <a:latin typeface="Aptos"/>
              </a:rPr>
              <a:t>Lebih rapi.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F3F6FF"/>
                </a:solidFill>
                <a:latin typeface="Aptos"/>
              </a:rPr>
              <a:t>Lebih cepat.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00D4C7"/>
                </a:solidFill>
                <a:latin typeface="Aptos"/>
              </a:rPr>
              <a:t>Lebih manusiawi.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4828032"/>
            <a:ext cx="201168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A6B1CD"/>
                </a:solidFill>
                <a:latin typeface="Aptos"/>
              </a:rPr>
              <a:t>PEOPLE OS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A6B1CD"/>
                </a:solidFill>
                <a:latin typeface="Aptos"/>
              </a:rPr>
              <a:t>MOVON DIGITAL HOUSE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38912"/>
            <a:ext cx="10874959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00D4C7"/>
                </a:solidFill>
                <a:latin typeface="Aptos"/>
              </a:rPr>
              <a:t>SAATNYA BERGERAK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417320"/>
            <a:ext cx="6583680" cy="19202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300"/>
              </a:spcAft>
            </a:pPr>
            <a:r>
              <a:rPr sz="4000" b="1">
                <a:solidFill>
                  <a:srgbClr val="F3F6FF"/>
                </a:solidFill>
                <a:latin typeface="Aptos"/>
              </a:rPr>
              <a:t>Buat HR bekerja</a:t>
            </a:r>
          </a:p>
          <a:p>
            <a:pPr algn="l">
              <a:lnSpc>
                <a:spcPct val="93000"/>
              </a:lnSpc>
              <a:spcBef>
                <a:spcPts val="0"/>
              </a:spcBef>
              <a:spcAft>
                <a:spcPts val="300"/>
              </a:spcAft>
            </a:pPr>
            <a:r>
              <a:rPr sz="4000" b="1">
                <a:solidFill>
                  <a:srgbClr val="00D4C7"/>
                </a:solidFill>
                <a:latin typeface="Aptos"/>
              </a:rPr>
              <a:t>secerdas tim Anda.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611880"/>
            <a:ext cx="6217920" cy="8686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A6B1CD"/>
                </a:solidFill>
                <a:latin typeface="Aptos"/>
              </a:rPr>
              <a:t>Satukan kehadiran, cuti, persetujuan, payroll, dan data karyawan dalam satu pengalaman yang mudah digunakan setiap hari.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846320"/>
            <a:ext cx="1865376" cy="384048"/>
          </a:xfrm>
          <a:prstGeom prst="roundRect">
            <a:avLst>
              <a:gd name="adj" fmla="val 8000"/>
            </a:avLst>
          </a:prstGeom>
          <a:solidFill>
            <a:srgbClr val="7C5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Kurangi administrasi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4846320"/>
            <a:ext cx="1709928" cy="384048"/>
          </a:xfrm>
          <a:prstGeom prst="roundRect">
            <a:avLst>
              <a:gd name="adj" fmla="val 8000"/>
            </a:avLst>
          </a:prstGeom>
          <a:solidFill>
            <a:srgbClr val="00D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181F37"/>
                </a:solidFill>
                <a:latin typeface="Aptos"/>
              </a:rPr>
              <a:t>Percepat keputusan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9704" y="4846320"/>
            <a:ext cx="1709928" cy="384048"/>
          </a:xfrm>
          <a:prstGeom prst="roundRect">
            <a:avLst>
              <a:gd name="adj" fmla="val 8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Bangun kepercayaan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650992"/>
            <a:ext cx="457200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3F6FF"/>
                </a:solidFill>
                <a:latin typeface="Aptos"/>
              </a:rPr>
              <a:t>TEAMKU  ·  PEOPLE 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46520"/>
            <a:ext cx="45720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A6B1CD"/>
                </a:solidFill>
                <a:latin typeface="Aptos"/>
              </a:rPr>
              <a:t>TEAMKU  ·  MOVON DIGITAL HOUSE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36047" y="6446520"/>
            <a:ext cx="109728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A6B1CD"/>
                </a:solidFill>
                <a:latin typeface="Aptos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732</Words>
  <Application>Microsoft Macintosh PowerPoint</Application>
  <PresentationFormat>Widescreen</PresentationFormat>
  <Paragraphs>173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Fadhil Suhendi</cp:lastModifiedBy>
  <cp:revision>2</cp:revision>
  <dcterms:created xsi:type="dcterms:W3CDTF">2013-01-27T09:14:16Z</dcterms:created>
  <dcterms:modified xsi:type="dcterms:W3CDTF">2026-09-06T12:03:24Z</dcterms:modified>
  <cp:category/>
</cp:coreProperties>
</file>